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0.svg" ContentType="image/svg+xml"/>
  <Override PartName="/ppt/media/image32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16" userDrawn="1">
          <p15:clr>
            <a:srgbClr val="747775"/>
          </p15:clr>
        </p15:guide>
        <p15:guide id="2" pos="292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16"/>
        <p:guide pos="292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大家好，今天我将为大家汇报我的课程论文，主题是“基于文献计量学的柔性MEMS领域研究热点与发展趋势分析”。我们将通过数据驱动的方式，深入洞察这一前沿领域。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柔性MEMS是一个快速发展的领域，但面对海量文献，我们很难看清全貌。因此，本研究提出三个核心研究问题：第一，这个领域的知识结构是怎样的？第二，研究热点是如何变化的？第三，全球的学术格局是怎样的？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为了回答这些问题，我们采集了来自三大数据库、近14年的2779篇核心文献。我们主要使用CiteSpace这款专业工具，对这些数据进行计量分析和可视化。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我们的核心发现首先体现在知识结构和热点演化上。如图所示，力学行为是整个领域的核心，并且已经形成了四大研究分支。同时，研究热点经历了三个阶段的演进，从基础器件发展到如今的动态传感应用。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在学术格局方面，我们发现全球形成了中美双核心的合作网络。而从高影响力的里程碑论文来看，压电MEMS和柔性传感是两大核心赛道，并且成果产出呈现出明显的阶段性特征。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总结来说，我们发现柔性MEMS领域知识体系成熟、热点迭代清晰、全球格局确立且主流赛道明确。但同时，本研究也存在数据来源、方法学和实验验证方面的局限。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这一页展示了本项目的附录信息，包括代码和数据的GitHub链接，我们在研究过程中对AI工具的使用说明，以及团队成员的分工情况。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我的汇报到此结束，感谢大家的聆听。现在是问答环节，欢迎大家提问。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8.svg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tags" Target="../tags/tag5.xml"/><Relationship Id="rId7" Type="http://schemas.openxmlformats.org/officeDocument/2006/relationships/tags" Target="../tags/tag4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9" Type="http://schemas.openxmlformats.org/officeDocument/2006/relationships/notesSlide" Target="../notesSlides/notesSlide3.xml"/><Relationship Id="rId28" Type="http://schemas.openxmlformats.org/officeDocument/2006/relationships/slideLayout" Target="../slideLayouts/slideLayout12.xml"/><Relationship Id="rId27" Type="http://schemas.openxmlformats.org/officeDocument/2006/relationships/image" Target="../media/image4.svg"/><Relationship Id="rId26" Type="http://schemas.openxmlformats.org/officeDocument/2006/relationships/image" Target="../media/image3.png"/><Relationship Id="rId25" Type="http://schemas.openxmlformats.org/officeDocument/2006/relationships/tags" Target="../tags/tag16.xml"/><Relationship Id="rId24" Type="http://schemas.openxmlformats.org/officeDocument/2006/relationships/image" Target="../media/image16.svg"/><Relationship Id="rId23" Type="http://schemas.openxmlformats.org/officeDocument/2006/relationships/image" Target="../media/image15.png"/><Relationship Id="rId22" Type="http://schemas.openxmlformats.org/officeDocument/2006/relationships/tags" Target="../tags/tag15.xml"/><Relationship Id="rId21" Type="http://schemas.openxmlformats.org/officeDocument/2006/relationships/tags" Target="../tags/tag14.xml"/><Relationship Id="rId20" Type="http://schemas.openxmlformats.org/officeDocument/2006/relationships/tags" Target="../tags/tag13.xml"/><Relationship Id="rId2" Type="http://schemas.openxmlformats.org/officeDocument/2006/relationships/tags" Target="../tags/tag1.xml"/><Relationship Id="rId19" Type="http://schemas.openxmlformats.org/officeDocument/2006/relationships/tags" Target="../tags/tag12.xml"/><Relationship Id="rId18" Type="http://schemas.openxmlformats.org/officeDocument/2006/relationships/image" Target="../media/image14.svg"/><Relationship Id="rId17" Type="http://schemas.openxmlformats.org/officeDocument/2006/relationships/image" Target="../media/image13.png"/><Relationship Id="rId16" Type="http://schemas.openxmlformats.org/officeDocument/2006/relationships/tags" Target="../tags/tag11.xml"/><Relationship Id="rId15" Type="http://schemas.openxmlformats.org/officeDocument/2006/relationships/tags" Target="../tags/tag10.xml"/><Relationship Id="rId14" Type="http://schemas.openxmlformats.org/officeDocument/2006/relationships/tags" Target="../tags/tag9.xml"/><Relationship Id="rId13" Type="http://schemas.openxmlformats.org/officeDocument/2006/relationships/tags" Target="../tags/tag8.xml"/><Relationship Id="rId12" Type="http://schemas.openxmlformats.org/officeDocument/2006/relationships/image" Target="../media/image12.svg"/><Relationship Id="rId11" Type="http://schemas.openxmlformats.org/officeDocument/2006/relationships/image" Target="../media/image11.png"/><Relationship Id="rId10" Type="http://schemas.openxmlformats.org/officeDocument/2006/relationships/tags" Target="../tags/tag7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22.svg"/><Relationship Id="rId8" Type="http://schemas.openxmlformats.org/officeDocument/2006/relationships/image" Target="../media/image21.png"/><Relationship Id="rId7" Type="http://schemas.openxmlformats.org/officeDocument/2006/relationships/image" Target="../media/image8.svg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5" Type="http://schemas.openxmlformats.org/officeDocument/2006/relationships/notesSlide" Target="../notesSlides/notesSlide6.xml"/><Relationship Id="rId14" Type="http://schemas.openxmlformats.org/officeDocument/2006/relationships/slideLayout" Target="../slideLayouts/slideLayout12.xml"/><Relationship Id="rId13" Type="http://schemas.openxmlformats.org/officeDocument/2006/relationships/image" Target="../media/image26.svg"/><Relationship Id="rId12" Type="http://schemas.openxmlformats.org/officeDocument/2006/relationships/image" Target="../media/image25.png"/><Relationship Id="rId11" Type="http://schemas.openxmlformats.org/officeDocument/2006/relationships/image" Target="../media/image24.svg"/><Relationship Id="rId10" Type="http://schemas.openxmlformats.org/officeDocument/2006/relationships/image" Target="../media/image23.png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22.xml"/><Relationship Id="rId8" Type="http://schemas.openxmlformats.org/officeDocument/2006/relationships/tags" Target="../tags/tag21.xml"/><Relationship Id="rId7" Type="http://schemas.openxmlformats.org/officeDocument/2006/relationships/tags" Target="../tags/tag20.xml"/><Relationship Id="rId6" Type="http://schemas.openxmlformats.org/officeDocument/2006/relationships/tags" Target="../tags/tag19.xml"/><Relationship Id="rId5" Type="http://schemas.openxmlformats.org/officeDocument/2006/relationships/image" Target="../media/image28.svg"/><Relationship Id="rId4" Type="http://schemas.openxmlformats.org/officeDocument/2006/relationships/image" Target="../media/image27.png"/><Relationship Id="rId3" Type="http://schemas.openxmlformats.org/officeDocument/2006/relationships/tags" Target="../tags/tag18.xml"/><Relationship Id="rId24" Type="http://schemas.openxmlformats.org/officeDocument/2006/relationships/notesSlide" Target="../notesSlides/notesSlide7.xml"/><Relationship Id="rId23" Type="http://schemas.openxmlformats.org/officeDocument/2006/relationships/slideLayout" Target="../slideLayouts/slideLayout12.xml"/><Relationship Id="rId22" Type="http://schemas.openxmlformats.org/officeDocument/2006/relationships/tags" Target="../tags/tag31.xml"/><Relationship Id="rId21" Type="http://schemas.openxmlformats.org/officeDocument/2006/relationships/tags" Target="../tags/tag30.xml"/><Relationship Id="rId20" Type="http://schemas.openxmlformats.org/officeDocument/2006/relationships/tags" Target="../tags/tag29.xml"/><Relationship Id="rId2" Type="http://schemas.openxmlformats.org/officeDocument/2006/relationships/tags" Target="../tags/tag17.xml"/><Relationship Id="rId19" Type="http://schemas.openxmlformats.org/officeDocument/2006/relationships/image" Target="../media/image32.svg"/><Relationship Id="rId18" Type="http://schemas.openxmlformats.org/officeDocument/2006/relationships/image" Target="../media/image31.png"/><Relationship Id="rId17" Type="http://schemas.openxmlformats.org/officeDocument/2006/relationships/tags" Target="../tags/tag28.xml"/><Relationship Id="rId16" Type="http://schemas.openxmlformats.org/officeDocument/2006/relationships/tags" Target="../tags/tag27.xml"/><Relationship Id="rId15" Type="http://schemas.openxmlformats.org/officeDocument/2006/relationships/tags" Target="../tags/tag26.xml"/><Relationship Id="rId14" Type="http://schemas.openxmlformats.org/officeDocument/2006/relationships/tags" Target="../tags/tag25.xml"/><Relationship Id="rId13" Type="http://schemas.openxmlformats.org/officeDocument/2006/relationships/tags" Target="../tags/tag24.xml"/><Relationship Id="rId12" Type="http://schemas.openxmlformats.org/officeDocument/2006/relationships/image" Target="../media/image30.svg"/><Relationship Id="rId11" Type="http://schemas.openxmlformats.org/officeDocument/2006/relationships/image" Target="../media/image29.png"/><Relationship Id="rId10" Type="http://schemas.openxmlformats.org/officeDocument/2006/relationships/tags" Target="../tags/tag23.xml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016000" y="2286000"/>
            <a:ext cx="10160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基于文献计量学的柔性MEMS领域研究热点与发展趋势分析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4445000"/>
            <a:ext cx="1016000" cy="50800"/>
          </a:xfrm>
          <a:prstGeom prst="roundRect">
            <a:avLst>
              <a:gd name="adj" fmla="val 0"/>
            </a:avLst>
          </a:prstGeom>
          <a:solidFill>
            <a:srgbClr val="14B8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4826000"/>
            <a:ext cx="990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课程论文汇报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5778500"/>
            <a:ext cx="9906000" cy="635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016000" y="5778500"/>
            <a:ext cx="50800" cy="635000"/>
          </a:xfrm>
          <a:prstGeom prst="roundRect">
            <a:avLst>
              <a:gd name="adj" fmla="val 0"/>
            </a:avLst>
          </a:prstGeom>
          <a:solidFill>
            <a:srgbClr val="14B8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270000" y="5842000"/>
            <a:ext cx="939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汇报人：</a:t>
            </a:r>
            <a:r>
              <a:rPr lang="zh-CN" altLang="en-US" sz="16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平振塬</a:t>
            </a:r>
            <a:r>
              <a:rPr lang="en-US" altLang="zh-CN" sz="16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</a:t>
            </a:r>
            <a:r>
              <a:rPr lang="zh-CN" altLang="en-US" sz="16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白朝琴</a:t>
            </a:r>
            <a:r>
              <a:rPr lang="en-US" sz="16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 |     日期：2026年6月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研究背景与研究问题 (RQ)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76200" cy="1778000"/>
          </a:xfrm>
          <a:prstGeom prst="roundRect">
            <a:avLst>
              <a:gd name="adj" fmla="val 0"/>
            </a:avLst>
          </a:prstGeom>
          <a:solidFill>
            <a:srgbClr val="14B8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1651000"/>
            <a:ext cx="1003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4B8A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▍研究背景：从微纳融合到爆发式增长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4297">
            <a:off x="1016004" y="2152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4B8A6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16000" y="2286000"/>
            <a:ext cx="10033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柔性MEMS作为微纳技术与柔性电子的前沿融合方向，在可穿戴设备、智能医疗、人机交互等领域展现出颠覆性潜力。据统计，2012-2026年间相关研究文献已超3000篇，呈爆发式增长态势。面对海量且分散的学术成果，目前缺乏系统性的宏观知识图谱分析，难以清晰把握该领域的发展脉络与核心架构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62000" y="3810000"/>
            <a:ext cx="34290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762000" y="3810000"/>
            <a:ext cx="3429000" cy="50800"/>
          </a:xfrm>
          <a:prstGeom prst="roundRect">
            <a:avLst>
              <a:gd name="adj" fmla="val 0"/>
            </a:avLst>
          </a:prstGeom>
          <a:solidFill>
            <a:srgbClr val="14B8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40640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524000" y="4038600"/>
            <a:ext cx="24765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RQ1：知识结构解析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14323">
            <a:off x="952513" y="4692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952500" y="4889500"/>
            <a:ext cx="3048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该领域的核心知识体系由哪些基础理论、关键技术与研究主题构成？通过关键词共现与聚类分析，揭示领域内的知识基础与主题关联网络。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381500" y="3810000"/>
            <a:ext cx="34290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4381500" y="3810000"/>
            <a:ext cx="3429000" cy="50800"/>
          </a:xfrm>
          <a:prstGeom prst="roundRect">
            <a:avLst>
              <a:gd name="adj" fmla="val 0"/>
            </a:avLst>
          </a:prstGeom>
          <a:solidFill>
            <a:srgbClr val="14B8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72000" y="406400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5143500" y="4038600"/>
            <a:ext cx="24765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RQ2：研究热点演化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-14323">
            <a:off x="4572013" y="4692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4572000" y="4889500"/>
            <a:ext cx="3048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梳理该领域研究主题随时间的演变轨迹，识别不同发展阶段的关键转折点与新兴趋势，探究技术热点如何从基础探索向应用落地逐步转化。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8001000" y="3810000"/>
            <a:ext cx="34290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8001000" y="3810000"/>
            <a:ext cx="3429000" cy="50800"/>
          </a:xfrm>
          <a:prstGeom prst="roundRect">
            <a:avLst>
              <a:gd name="adj" fmla="val 0"/>
            </a:avLst>
          </a:prstGeom>
          <a:solidFill>
            <a:srgbClr val="14B8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191500" y="4064000"/>
            <a:ext cx="406400" cy="4064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8763000" y="4038600"/>
            <a:ext cx="24765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RQ3：全球学术格局</a:t>
            </a:r>
            <a:endParaRPr lang="en-US" sz="1100"/>
          </a:p>
        </p:txBody>
      </p:sp>
      <p:cxnSp>
        <p:nvCxnSpPr>
          <p:cNvPr id="25" name="Connector 25"/>
          <p:cNvCxnSpPr/>
          <p:nvPr/>
        </p:nvCxnSpPr>
        <p:spPr>
          <a:xfrm rot="-14323">
            <a:off x="8191513" y="4692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6" name="AutoShape 26"/>
          <p:cNvSpPr/>
          <p:nvPr/>
        </p:nvSpPr>
        <p:spPr>
          <a:xfrm>
            <a:off x="8191500" y="4889500"/>
            <a:ext cx="3048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分析全球范围内该领域的核心研究机构、高产作者分布及合作网络特征，厘清各国/地区的研究实力对比与学术合作模式，为科研布局提供参考。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数据口径与研究方法</a:t>
            </a:r>
            <a:endParaRPr lang="en-US" sz="1100"/>
          </a:p>
        </p:txBody>
      </p:sp>
      <p:sp>
        <p:nvSpPr>
          <p:cNvPr id="4" name="AutoShape 4"/>
          <p:cNvSpPr/>
          <p:nvPr>
            <p:custDataLst>
              <p:tags r:id="rId2"/>
            </p:custDataLst>
          </p:nvPr>
        </p:nvSpPr>
        <p:spPr>
          <a:xfrm>
            <a:off x="762000" y="1778000"/>
            <a:ext cx="5080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>
            <p:custDataLst>
              <p:tags r:id="rId3"/>
            </p:custDataLst>
          </p:nvPr>
        </p:nvSpPr>
        <p:spPr>
          <a:xfrm>
            <a:off x="762000" y="1778000"/>
            <a:ext cx="76200" cy="1079500"/>
          </a:xfrm>
          <a:prstGeom prst="roundRect">
            <a:avLst>
              <a:gd name="adj" fmla="val 0"/>
            </a:avLst>
          </a:prstGeom>
          <a:solidFill>
            <a:srgbClr val="14B8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1968500"/>
            <a:ext cx="355600" cy="355600"/>
          </a:xfrm>
          <a:prstGeom prst="rect">
            <a:avLst/>
          </a:prstGeom>
        </p:spPr>
      </p:pic>
      <p:sp>
        <p:nvSpPr>
          <p:cNvPr id="7" name="AutoShape 7"/>
          <p:cNvSpPr/>
          <p:nvPr>
            <p:custDataLst>
              <p:tags r:id="rId7"/>
            </p:custDataLst>
          </p:nvPr>
        </p:nvSpPr>
        <p:spPr>
          <a:xfrm>
            <a:off x="1524000" y="1879600"/>
            <a:ext cx="4127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权威多元的数据源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zh-CN" alt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利用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Web of Science数据库，确保检索文献的全面性、系统性与学术权威性。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>
            <p:custDataLst>
              <p:tags r:id="rId8"/>
            </p:custDataLst>
          </p:nvPr>
        </p:nvSpPr>
        <p:spPr>
          <a:xfrm>
            <a:off x="762000" y="3002280"/>
            <a:ext cx="5080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>
            <p:custDataLst>
              <p:tags r:id="rId9"/>
            </p:custDataLst>
          </p:nvPr>
        </p:nvSpPr>
        <p:spPr>
          <a:xfrm>
            <a:off x="762000" y="3002280"/>
            <a:ext cx="76200" cy="1079500"/>
          </a:xfrm>
          <a:prstGeom prst="roundRect">
            <a:avLst>
              <a:gd name="adj" fmla="val 0"/>
            </a:avLst>
          </a:prstGeom>
          <a:solidFill>
            <a:srgbClr val="14B8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16000" y="3192780"/>
            <a:ext cx="355600" cy="355600"/>
          </a:xfrm>
          <a:prstGeom prst="rect">
            <a:avLst/>
          </a:prstGeom>
        </p:spPr>
      </p:pic>
      <p:sp>
        <p:nvSpPr>
          <p:cNvPr id="11" name="AutoShape 11"/>
          <p:cNvSpPr/>
          <p:nvPr>
            <p:custDataLst>
              <p:tags r:id="rId13"/>
            </p:custDataLst>
          </p:nvPr>
        </p:nvSpPr>
        <p:spPr>
          <a:xfrm>
            <a:off x="1524000" y="3103880"/>
            <a:ext cx="4127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近十四年的时间跨度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时间窗口设定为 2012年1月至 2026</a:t>
            </a:r>
            <a:r>
              <a:rPr lang="zh-CN" alt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年</a:t>
            </a:r>
            <a:r>
              <a:rPr lang="en-US" altLang="zh-CN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5</a:t>
            </a:r>
            <a:r>
              <a:rPr lang="zh-CN" alt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月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，完整覆盖该领域近14年的研究脉络，捕捉其发展演化的全过程。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>
            <p:custDataLst>
              <p:tags r:id="rId14"/>
            </p:custDataLst>
          </p:nvPr>
        </p:nvSpPr>
        <p:spPr>
          <a:xfrm>
            <a:off x="762000" y="4191000"/>
            <a:ext cx="5080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>
            <p:custDataLst>
              <p:tags r:id="rId15"/>
            </p:custDataLst>
          </p:nvPr>
        </p:nvSpPr>
        <p:spPr>
          <a:xfrm>
            <a:off x="762000" y="4191000"/>
            <a:ext cx="76200" cy="1079500"/>
          </a:xfrm>
          <a:prstGeom prst="roundRect">
            <a:avLst>
              <a:gd name="adj" fmla="val 0"/>
            </a:avLst>
          </a:prstGeom>
          <a:solidFill>
            <a:srgbClr val="14B8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016000" y="4381500"/>
            <a:ext cx="355600" cy="355600"/>
          </a:xfrm>
          <a:prstGeom prst="rect">
            <a:avLst/>
          </a:prstGeom>
        </p:spPr>
      </p:pic>
      <p:sp>
        <p:nvSpPr>
          <p:cNvPr id="15" name="AutoShape 15"/>
          <p:cNvSpPr/>
          <p:nvPr>
            <p:custDataLst>
              <p:tags r:id="rId19"/>
            </p:custDataLst>
          </p:nvPr>
        </p:nvSpPr>
        <p:spPr>
          <a:xfrm>
            <a:off x="1524000" y="4292600"/>
            <a:ext cx="4127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严格的文献筛选标准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严格纳入经过同行评审的期刊论文(Article)与综述文献(Review)，剔除会议摘要、信件、短评等非核心文献，保障数据质量。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>
            <p:custDataLst>
              <p:tags r:id="rId20"/>
            </p:custDataLst>
          </p:nvPr>
        </p:nvSpPr>
        <p:spPr>
          <a:xfrm>
            <a:off x="6407150" y="1778000"/>
            <a:ext cx="5080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>
            <p:custDataLst>
              <p:tags r:id="rId21"/>
            </p:custDataLst>
          </p:nvPr>
        </p:nvSpPr>
        <p:spPr>
          <a:xfrm>
            <a:off x="6407150" y="1778000"/>
            <a:ext cx="76200" cy="1079500"/>
          </a:xfrm>
          <a:prstGeom prst="roundRect">
            <a:avLst>
              <a:gd name="adj" fmla="val 0"/>
            </a:avLst>
          </a:prstGeom>
          <a:solidFill>
            <a:srgbClr val="14B8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6661150" y="1968500"/>
            <a:ext cx="355600" cy="355600"/>
          </a:xfrm>
          <a:prstGeom prst="rect">
            <a:avLst/>
          </a:prstGeom>
        </p:spPr>
      </p:pic>
      <p:sp>
        <p:nvSpPr>
          <p:cNvPr id="19" name="AutoShape 19"/>
          <p:cNvSpPr/>
          <p:nvPr>
            <p:custDataLst>
              <p:tags r:id="rId25"/>
            </p:custDataLst>
          </p:nvPr>
        </p:nvSpPr>
        <p:spPr>
          <a:xfrm>
            <a:off x="7169150" y="1879600"/>
            <a:ext cx="4127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精炼后的有效样本库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经过去重、筛选与质量评估，最终确定有效文献样本</a:t>
            </a:r>
            <a:r>
              <a:rPr lang="en-US" sz="1400" b="1" i="0" u="none" strike="noStrike">
                <a:solidFill>
                  <a:srgbClr val="14B8A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3039篇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，为后续计量分析提供坚实的数据基础。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6407150" y="3594100"/>
            <a:ext cx="5080000" cy="1587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6407150" y="3594100"/>
            <a:ext cx="76200" cy="1587500"/>
          </a:xfrm>
          <a:prstGeom prst="roundRect">
            <a:avLst>
              <a:gd name="adj" fmla="val 0"/>
            </a:avLst>
          </a:prstGeom>
          <a:solidFill>
            <a:srgbClr val="14B8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6661150" y="3784600"/>
            <a:ext cx="355600" cy="3556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7169150" y="3721100"/>
            <a:ext cx="41275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核心工具：CiteSpace 知识图谱分析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 CiteSpace 作为核心分析工具，开展关键词聚类、突现词检测及作者/机构合作网络分析，深度挖掘领域研究热点、前沿趋势与知识结构，科学量化文献间的内在关联与演化规律。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核心发现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 t="3897" b="3897"/>
          <a:stretch>
            <a:fillRect/>
          </a:stretch>
        </p:blipFill>
        <p:spPr>
          <a:xfrm>
            <a:off x="762000" y="1524000"/>
            <a:ext cx="4889500" cy="2794000"/>
          </a:xfrm>
          <a:prstGeom prst="rect">
            <a:avLst/>
          </a:prstGeom>
          <a:noFill/>
          <a:ln w="12700" cap="flat" cmpd="sng">
            <a:solidFill>
              <a:srgbClr val="14B8A6">
                <a:alpha val="30000"/>
              </a:srgbClr>
            </a:solidFill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762000" y="4572000"/>
            <a:ext cx="48895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4572000"/>
            <a:ext cx="50800" cy="1778000"/>
          </a:xfrm>
          <a:prstGeom prst="roundRect">
            <a:avLst>
              <a:gd name="adj" fmla="val 0"/>
            </a:avLst>
          </a:prstGeom>
          <a:solidFill>
            <a:srgbClr val="14B8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016000" y="4699000"/>
            <a:ext cx="4508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4B8A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领域知识结构：以“力学行为”为核心枢纽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9822">
            <a:off x="1016009" y="5200650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4B8A6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16000" y="5334000"/>
            <a:ext cx="4508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“力学行为 (Behavior)”是贯穿材料、设计与性能的核心。领域已形成“工艺与材料 → 力学行为 → 结构设计 → 性能表征”的成熟闭环知识体系，各环节紧密耦合，构建了完整的研究范式。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5390953">
            <a:off x="3683000" y="3930658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11" name="Picture 11"/>
          <p:cNvPicPr>
            <a:picLocks noChangeAspect="1"/>
          </p:cNvPicPr>
          <p:nvPr/>
        </p:nvPicPr>
        <p:blipFill>
          <a:blip r:embed="rId3"/>
          <a:srcRect l="386" r="386"/>
          <a:stretch>
            <a:fillRect/>
          </a:stretch>
        </p:blipFill>
        <p:spPr>
          <a:xfrm>
            <a:off x="6540500" y="1524000"/>
            <a:ext cx="4889500" cy="2794000"/>
          </a:xfrm>
          <a:prstGeom prst="rect">
            <a:avLst/>
          </a:prstGeom>
          <a:noFill/>
          <a:ln w="12700" cap="flat" cmpd="sng">
            <a:solidFill>
              <a:srgbClr val="14B8A6">
                <a:alpha val="30000"/>
              </a:srgbClr>
            </a:solidFill>
            <a:prstDash val="solid"/>
            <a:round/>
          </a:ln>
        </p:spPr>
      </p:pic>
      <p:sp>
        <p:nvSpPr>
          <p:cNvPr id="12" name="AutoShape 12"/>
          <p:cNvSpPr/>
          <p:nvPr/>
        </p:nvSpPr>
        <p:spPr>
          <a:xfrm>
            <a:off x="6540500" y="4572000"/>
            <a:ext cx="48895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6540500" y="4572000"/>
            <a:ext cx="50800" cy="1778000"/>
          </a:xfrm>
          <a:prstGeom prst="roundRect">
            <a:avLst>
              <a:gd name="adj" fmla="val 0"/>
            </a:avLst>
          </a:prstGeom>
          <a:solidFill>
            <a:srgbClr val="14B8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6794500" y="4699000"/>
            <a:ext cx="4508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4B8A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研究热点演化：三阶段进阶与场景化聚焦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9822">
            <a:off x="6794509" y="5200650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4B8A6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6794500" y="5334000"/>
            <a:ext cx="4508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演进路径清晰呈现“刚性基础器件 → 柔性生物适配 → 动态微机械器件+场景化传感”的三阶段特征。当前，“柔性传感器”与“动态力学研究”是领域内最活跃的前沿方向，驱动着技术向实际应用转化。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核心发现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270500" cy="4699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rcRect t="13306" b="13306"/>
          <a:stretch>
            <a:fillRect/>
          </a:stretch>
        </p:blipFill>
        <p:spPr>
          <a:xfrm>
            <a:off x="952500" y="1714500"/>
            <a:ext cx="4889500" cy="2222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6" name="Connector 6"/>
          <p:cNvCxnSpPr/>
          <p:nvPr/>
        </p:nvCxnSpPr>
        <p:spPr>
          <a:xfrm rot="-8929">
            <a:off x="952508" y="4184650"/>
            <a:ext cx="4889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4B8A6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952500" y="4381500"/>
            <a:ext cx="4889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14B8A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▍全球作者网络：核心团队凝聚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形成了以 Chen, Chia-Hung 等学者为核心的稳定合作团队，通过长期合作产出了一系列高影响力成果，成为领域内的标杆研究组。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5308600"/>
            <a:ext cx="4889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14B8A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▍全球机构格局：中美双核心协同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呈现“中美双核心，全球协同”的格局，中国科学院、清华大学等亚洲科研力量迅速崛起，与美国MIT、加州大学系统形成紧密的学术联动。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223000" y="1524000"/>
            <a:ext cx="5270500" cy="4699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/>
          <a:srcRect l="6058" r="6058"/>
          <a:stretch>
            <a:fillRect/>
          </a:stretch>
        </p:blipFill>
        <p:spPr>
          <a:xfrm>
            <a:off x="6413500" y="1714500"/>
            <a:ext cx="4889500" cy="2222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11" name="Connector 11"/>
          <p:cNvCxnSpPr/>
          <p:nvPr/>
        </p:nvCxnSpPr>
        <p:spPr>
          <a:xfrm rot="-8929">
            <a:off x="6413508" y="4184650"/>
            <a:ext cx="4889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4B8A6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6413500" y="4381500"/>
            <a:ext cx="4889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14B8A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▍领域核心赛道：双主线并行发展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“压电MEMS器件”与“柔性MEMS传感”是目前产出最高、影响力最大的两大主流研究方向，构成了该领域的学术研究基石。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413500" y="5321300"/>
            <a:ext cx="4889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14B8A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▍里程碑节点：两阶段成果爆发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关键成果集中出现在2013-2015年的基础理论奠基期，以及2021-2023年的前沿技术突破期，体现了领域研究从理论到应用的递进逻辑。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结论与局限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092">
            <a:off x="762004" y="1263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4B8A6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762000" y="1651000"/>
            <a:ext cx="3175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14B8A6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18415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397000" y="1803400"/>
            <a:ext cx="2413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4B8A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知识体系成熟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5626">
            <a:off x="952514" y="23431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4B8A6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952500" y="2540000"/>
            <a:ext cx="279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形成“制备—材料—力学行为—设计—性能”的闭环体系，学科逻辑链条完整，理论框架趋于稳定。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191000" y="1651000"/>
            <a:ext cx="3175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14B8A6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81500" y="18415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4826000" y="1803400"/>
            <a:ext cx="2413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4B8A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热点迭代清晰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15626">
            <a:off x="4381514" y="23431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4B8A6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4381500" y="2540000"/>
            <a:ext cx="279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历经“基础器件 → 柔性适配 → 动态与传感”三阶段演进，研究热点随技术成熟度逐步向应用端深化。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62000" y="3937000"/>
            <a:ext cx="3175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14B8A6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2500" y="41275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397000" y="4089400"/>
            <a:ext cx="2413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4B8A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全球格局确立</a:t>
            </a:r>
            <a:endParaRPr lang="en-US" sz="1100"/>
          </a:p>
        </p:txBody>
      </p:sp>
      <p:cxnSp>
        <p:nvCxnSpPr>
          <p:cNvPr id="18" name="Connector 18"/>
          <p:cNvCxnSpPr/>
          <p:nvPr/>
        </p:nvCxnSpPr>
        <p:spPr>
          <a:xfrm rot="-15626">
            <a:off x="952514" y="46291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4B8A6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/>
        </p:nvSpPr>
        <p:spPr>
          <a:xfrm>
            <a:off x="952500" y="4826000"/>
            <a:ext cx="279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形成“中美双核心，全球协同”的学术研究格局，两国在该领域的发文量与影响力占据主导地位。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4191000" y="3937000"/>
            <a:ext cx="3175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14B8A6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381500" y="4127500"/>
            <a:ext cx="304800" cy="3048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4826000" y="4089400"/>
            <a:ext cx="2413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4B8A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主流赛道明确</a:t>
            </a:r>
            <a:endParaRPr lang="en-US" sz="1100"/>
          </a:p>
        </p:txBody>
      </p:sp>
      <p:cxnSp>
        <p:nvCxnSpPr>
          <p:cNvPr id="23" name="Connector 23"/>
          <p:cNvCxnSpPr/>
          <p:nvPr/>
        </p:nvCxnSpPr>
        <p:spPr>
          <a:xfrm rot="-15626">
            <a:off x="4381514" y="46291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4B8A6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4" name="AutoShape 24"/>
          <p:cNvSpPr/>
          <p:nvPr/>
        </p:nvSpPr>
        <p:spPr>
          <a:xfrm>
            <a:off x="4381500" y="4826000"/>
            <a:ext cx="279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压电MEMS器件与柔性传感是产业化主要方向，兼具技术可行性与市场潜力，成为行业发展的核心抓手。</a:t>
            </a:r>
            <a:endParaRPr lang="en-US" sz="1100"/>
          </a:p>
        </p:txBody>
      </p:sp>
      <p:cxnSp>
        <p:nvCxnSpPr>
          <p:cNvPr id="25" name="Connector 25"/>
          <p:cNvCxnSpPr/>
          <p:nvPr/>
        </p:nvCxnSpPr>
        <p:spPr>
          <a:xfrm rot="5390177">
            <a:off x="5524500" y="3867159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" name="AutoShape 26"/>
          <p:cNvSpPr/>
          <p:nvPr/>
        </p:nvSpPr>
        <p:spPr>
          <a:xfrm>
            <a:off x="8001000" y="1651000"/>
            <a:ext cx="3556000" cy="4191000"/>
          </a:xfrm>
          <a:prstGeom prst="roundRect">
            <a:avLst>
              <a:gd name="adj" fmla="val 0"/>
            </a:avLst>
          </a:prstGeom>
          <a:solidFill>
            <a:srgbClr val="14B8A6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8191500" y="1841500"/>
            <a:ext cx="317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研究的局限性</a:t>
            </a:r>
            <a:endParaRPr lang="en-US" sz="1100"/>
          </a:p>
        </p:txBody>
      </p:sp>
      <p:cxnSp>
        <p:nvCxnSpPr>
          <p:cNvPr id="28" name="Connector 28"/>
          <p:cNvCxnSpPr/>
          <p:nvPr/>
        </p:nvCxnSpPr>
        <p:spPr>
          <a:xfrm rot="-13750">
            <a:off x="8191513" y="2406650"/>
            <a:ext cx="317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4B8A6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9" name="Picture 29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191500" y="2730500"/>
            <a:ext cx="254000" cy="254000"/>
          </a:xfrm>
          <a:prstGeom prst="rect">
            <a:avLst/>
          </a:prstGeom>
        </p:spPr>
      </p:pic>
      <p:sp>
        <p:nvSpPr>
          <p:cNvPr id="30" name="AutoShape 30"/>
          <p:cNvSpPr/>
          <p:nvPr/>
        </p:nvSpPr>
        <p:spPr>
          <a:xfrm>
            <a:off x="8572500" y="2692400"/>
            <a:ext cx="2794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数据来源局限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仅基于</a:t>
            </a:r>
            <a:r>
              <a:rPr lang="en-US" sz="13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Web of Science</a:t>
            </a: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数据库进行分析，可能存在部分语种或灰色文献覆盖不全的情况，影响数据完整性。</a:t>
            </a:r>
            <a:endParaRPr lang="en-US" sz="13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31" name="Connector 31"/>
          <p:cNvCxnSpPr/>
          <p:nvPr/>
        </p:nvCxnSpPr>
        <p:spPr>
          <a:xfrm rot="-13750">
            <a:off x="8191513" y="3867150"/>
            <a:ext cx="317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32" name="Picture 32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191500" y="4064000"/>
            <a:ext cx="254000" cy="254000"/>
          </a:xfrm>
          <a:prstGeom prst="rect">
            <a:avLst/>
          </a:prstGeom>
        </p:spPr>
      </p:pic>
      <p:sp>
        <p:nvSpPr>
          <p:cNvPr id="33" name="AutoShape 33"/>
          <p:cNvSpPr/>
          <p:nvPr/>
        </p:nvSpPr>
        <p:spPr>
          <a:xfrm>
            <a:off x="8572500" y="4025900"/>
            <a:ext cx="2794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方法学与验证缺失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侧重定量的文献计量分析，难以完全反映研究深度；且结论仅基于文献数据推导，缺乏实验或案例的直接验证。</a:t>
            </a:r>
            <a:endParaRPr lang="en-US" sz="13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 附录信息</a:t>
            </a:r>
            <a:endParaRPr lang="en-US" sz="1100"/>
          </a:p>
        </p:txBody>
      </p:sp>
      <p:sp>
        <p:nvSpPr>
          <p:cNvPr id="4" name="AutoShape 4"/>
          <p:cNvSpPr/>
          <p:nvPr>
            <p:custDataLst>
              <p:tags r:id="rId2"/>
            </p:custDataLst>
          </p:nvPr>
        </p:nvSpPr>
        <p:spPr>
          <a:xfrm>
            <a:off x="762000" y="1905000"/>
            <a:ext cx="34290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14B8A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21590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>
            <p:custDataLst>
              <p:tags r:id="rId6"/>
            </p:custDataLst>
          </p:nvPr>
        </p:nvSpPr>
        <p:spPr>
          <a:xfrm>
            <a:off x="1524000" y="2159000"/>
            <a:ext cx="2413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项目代码仓库</a:t>
            </a:r>
            <a:endParaRPr lang="en-US" sz="1100"/>
          </a:p>
        </p:txBody>
      </p:sp>
      <p:cxnSp>
        <p:nvCxnSpPr>
          <p:cNvPr id="7" name="Connector 7"/>
          <p:cNvCxnSpPr/>
          <p:nvPr>
            <p:custDataLst>
              <p:tags r:id="rId7"/>
            </p:custDataLst>
          </p:nvPr>
        </p:nvCxnSpPr>
        <p:spPr>
          <a:xfrm rot="-14946">
            <a:off x="1016014" y="2787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>
            <p:custDataLst>
              <p:tags r:id="rId8"/>
            </p:custDataLst>
          </p:nvPr>
        </p:nvSpPr>
        <p:spPr>
          <a:xfrm>
            <a:off x="1016000" y="3073400"/>
            <a:ext cx="2921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altLang="zh-CN" sz="1400" b="1" i="0" u="none" strike="noStrike">
                <a:solidFill>
                  <a:srgbClr val="14B8A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https://github.com/pzy-111/Bibliometrics-Assignment-MEMS-and-Microsystems</a:t>
            </a:r>
            <a:endParaRPr lang="en-US" altLang="zh-CN" sz="1400" b="1" i="0" u="none" strike="noStrike">
              <a:solidFill>
                <a:srgbClr val="14B8A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>
            <p:custDataLst>
              <p:tags r:id="rId9"/>
            </p:custDataLst>
          </p:nvPr>
        </p:nvSpPr>
        <p:spPr>
          <a:xfrm>
            <a:off x="4381500" y="1905000"/>
            <a:ext cx="34290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14B8A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635500" y="21590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>
            <p:custDataLst>
              <p:tags r:id="rId13"/>
            </p:custDataLst>
          </p:nvPr>
        </p:nvSpPr>
        <p:spPr>
          <a:xfrm>
            <a:off x="5143500" y="2159000"/>
            <a:ext cx="2413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辅助工具应用</a:t>
            </a:r>
            <a:endParaRPr lang="en-US" sz="1100"/>
          </a:p>
        </p:txBody>
      </p:sp>
      <p:cxnSp>
        <p:nvCxnSpPr>
          <p:cNvPr id="12" name="Connector 12"/>
          <p:cNvCxnSpPr/>
          <p:nvPr>
            <p:custDataLst>
              <p:tags r:id="rId14"/>
            </p:custDataLst>
          </p:nvPr>
        </p:nvCxnSpPr>
        <p:spPr>
          <a:xfrm rot="-14946">
            <a:off x="4635514" y="2787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>
            <p:custDataLst>
              <p:tags r:id="rId15"/>
            </p:custDataLst>
          </p:nvPr>
        </p:nvSpPr>
        <p:spPr>
          <a:xfrm>
            <a:off x="4635500" y="2768600"/>
            <a:ext cx="29210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1" i="0" u="none" strike="noStrike">
                <a:solidFill>
                  <a:srgbClr val="0F76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核心原则：</a:t>
            </a:r>
            <a:r>
              <a:rPr lang="en-US" sz="10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AI仅辅助，最终结论、数据图谱等均由人工确认负责。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100" b="1" i="0" u="none" strike="noStrike">
                <a:solidFill>
                  <a:srgbClr val="0F76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应用环节：</a:t>
            </a:r>
            <a:r>
              <a:rPr lang="en-US" sz="10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优化检索策略、辅助代码编写、解读图谱结果、撰写/润色报告、提炼发展脉络、归纳总结与趋势预判。</a:t>
            </a:r>
            <a:endParaRPr lang="en-US" sz="10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100" b="1" i="0" u="none" strike="noStrike">
                <a:solidFill>
                  <a:srgbClr val="0F76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交互与核验：</a:t>
            </a:r>
            <a:r>
              <a:rPr lang="en-US" sz="10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与CiteSpace等工具协作核验；通过逻辑复查、交叉验证、事实核查与重复性校验确保输出可靠。</a:t>
            </a:r>
            <a:endParaRPr lang="en-US" sz="10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>
            <p:custDataLst>
              <p:tags r:id="rId16"/>
            </p:custDataLst>
          </p:nvPr>
        </p:nvSpPr>
        <p:spPr>
          <a:xfrm>
            <a:off x="8001000" y="1905000"/>
            <a:ext cx="34290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14B8A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255000" y="21590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>
            <p:custDataLst>
              <p:tags r:id="rId20"/>
            </p:custDataLst>
          </p:nvPr>
        </p:nvSpPr>
        <p:spPr>
          <a:xfrm>
            <a:off x="8763000" y="2159000"/>
            <a:ext cx="2413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团队分工与进度</a:t>
            </a:r>
            <a:endParaRPr lang="en-US" sz="1100"/>
          </a:p>
        </p:txBody>
      </p:sp>
      <p:cxnSp>
        <p:nvCxnSpPr>
          <p:cNvPr id="17" name="Connector 17"/>
          <p:cNvCxnSpPr/>
          <p:nvPr>
            <p:custDataLst>
              <p:tags r:id="rId21"/>
            </p:custDataLst>
          </p:nvPr>
        </p:nvCxnSpPr>
        <p:spPr>
          <a:xfrm rot="-14946">
            <a:off x="8255014" y="2787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>
            <p:custDataLst>
              <p:tags r:id="rId22"/>
            </p:custDataLst>
          </p:nvPr>
        </p:nvSpPr>
        <p:spPr>
          <a:xfrm>
            <a:off x="8255000" y="2984500"/>
            <a:ext cx="2921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1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平振塬: 仓库与资料整理 </a:t>
            </a:r>
            <a:br>
              <a:rPr lang="en-US" sz="10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9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工作: Github库搭建、README撰写、材料归档。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1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白朝琴: 数据与图表分析 </a:t>
            </a:r>
            <a:br>
              <a:rPr lang="en-US" sz="10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9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工作: 数据清洗、文献计量分析、图表绘制。</a:t>
            </a:r>
            <a:endParaRPr lang="en-US" sz="9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1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胡光成: 论文撰写 </a:t>
            </a:r>
            <a:br>
              <a:rPr lang="en-US" sz="10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9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工作: 全文撰写、内容修改、格式调整。</a:t>
            </a:r>
            <a:endParaRPr lang="en-US" sz="9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1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谭岳炉: AI使用说明 </a:t>
            </a:r>
            <a:br>
              <a:rPr lang="en-US" sz="10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9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工作: 撰写AI工具操作使用说明书。</a:t>
            </a:r>
            <a:endParaRPr lang="en-US" sz="9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1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龚钰凯: 答辩材料 </a:t>
            </a:r>
            <a:br>
              <a:rPr lang="en-US" sz="10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9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工作: 答辩PPT制作、排版美化。</a:t>
            </a:r>
            <a:endParaRPr lang="en-US" sz="9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762000" y="5842000"/>
            <a:ext cx="10668000" cy="635000"/>
          </a:xfrm>
          <a:prstGeom prst="roundRect">
            <a:avLst>
              <a:gd name="adj" fmla="val 0"/>
            </a:avLst>
          </a:prstGeom>
          <a:solidFill>
            <a:srgbClr val="14B8A6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952500" y="5943600"/>
            <a:ext cx="10287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本项目严格遵循学术规范与团队协作流程，通过明确分工与高效执行，高质量地完成了全部研究与汇报工作。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016000" y="2724150"/>
            <a:ext cx="1016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感谢聆听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3778250"/>
            <a:ext cx="1016000" cy="50800"/>
          </a:xfrm>
          <a:prstGeom prst="roundRect">
            <a:avLst>
              <a:gd name="adj" fmla="val 0"/>
            </a:avLst>
          </a:prstGeom>
          <a:solidFill>
            <a:srgbClr val="14B8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65,&quot;left&quot;:60,&quot;top&quot;:140,&quot;width&quot;:844.5}"/>
</p:tagLst>
</file>

<file path=ppt/tags/tag2.xml><?xml version="1.0" encoding="utf-8"?>
<p:tagLst xmlns:p="http://schemas.openxmlformats.org/presentationml/2006/main">
  <p:tag name="KSO_WM_DIAGRAM_VIRTUALLY_FRAME" val="{&quot;height&quot;:365,&quot;left&quot;:60,&quot;top&quot;:140,&quot;width&quot;:844.5}"/>
</p:tagLst>
</file>

<file path=ppt/tags/tag3.xml><?xml version="1.0" encoding="utf-8"?>
<p:tagLst xmlns:p="http://schemas.openxmlformats.org/presentationml/2006/main">
  <p:tag name="KSO_WM_DIAGRAM_VIRTUALLY_FRAME" val="{&quot;height&quot;:365,&quot;left&quot;:60,&quot;top&quot;:140,&quot;width&quot;:844.5}"/>
</p:tagLst>
</file>

<file path=ppt/tags/tag4.xml><?xml version="1.0" encoding="utf-8"?>
<p:tagLst xmlns:p="http://schemas.openxmlformats.org/presentationml/2006/main">
  <p:tag name="KSO_WM_DIAGRAM_VIRTUALLY_FRAME" val="{&quot;height&quot;:365,&quot;left&quot;:60,&quot;top&quot;:140,&quot;width&quot;:844.5}"/>
</p:tagLst>
</file>

<file path=ppt/tags/tag5.xml><?xml version="1.0" encoding="utf-8"?>
<p:tagLst xmlns:p="http://schemas.openxmlformats.org/presentationml/2006/main">
  <p:tag name="KSO_WM_DIAGRAM_VIRTUALLY_FRAME" val="{&quot;height&quot;:365,&quot;left&quot;:60,&quot;top&quot;:140,&quot;width&quot;:844.5}"/>
</p:tagLst>
</file>

<file path=ppt/tags/tag6.xml><?xml version="1.0" encoding="utf-8"?>
<p:tagLst xmlns:p="http://schemas.openxmlformats.org/presentationml/2006/main">
  <p:tag name="KSO_WM_DIAGRAM_VIRTUALLY_FRAME" val="{&quot;height&quot;:365,&quot;left&quot;:60,&quot;top&quot;:140,&quot;width&quot;:844.5}"/>
</p:tagLst>
</file>

<file path=ppt/tags/tag7.xml><?xml version="1.0" encoding="utf-8"?>
<p:tagLst xmlns:p="http://schemas.openxmlformats.org/presentationml/2006/main">
  <p:tag name="KSO_WM_DIAGRAM_VIRTUALLY_FRAME" val="{&quot;height&quot;:365,&quot;left&quot;:60,&quot;top&quot;:140,&quot;width&quot;:844.5}"/>
</p:tagLst>
</file>

<file path=ppt/tags/tag8.xml><?xml version="1.0" encoding="utf-8"?>
<p:tagLst xmlns:p="http://schemas.openxmlformats.org/presentationml/2006/main">
  <p:tag name="KSO_WM_DIAGRAM_VIRTUALLY_FRAME" val="{&quot;height&quot;:365,&quot;left&quot;:60,&quot;top&quot;:140,&quot;width&quot;:844.5}"/>
</p:tagLst>
</file>

<file path=ppt/tags/tag9.xml><?xml version="1.0" encoding="utf-8"?>
<p:tagLst xmlns:p="http://schemas.openxmlformats.org/presentationml/2006/main">
  <p:tag name="KSO_WM_DIAGRAM_VIRTUALLY_FRAME" val="{&quot;height&quot;:365,&quot;left&quot;:60,&quot;top&quot;:140,&quot;width&quot;:844.5}"/>
</p:tagLst>
</file>

<file path=ppt/tags/tag10.xml><?xml version="1.0" encoding="utf-8"?>
<p:tagLst xmlns:p="http://schemas.openxmlformats.org/presentationml/2006/main">
  <p:tag name="KSO_WM_DIAGRAM_VIRTUALLY_FRAME" val="{&quot;height&quot;:365,&quot;left&quot;:60,&quot;top&quot;:140,&quot;width&quot;:844.5}"/>
</p:tagLst>
</file>

<file path=ppt/tags/tag11.xml><?xml version="1.0" encoding="utf-8"?>
<p:tagLst xmlns:p="http://schemas.openxmlformats.org/presentationml/2006/main">
  <p:tag name="KSO_WM_DIAGRAM_VIRTUALLY_FRAME" val="{&quot;height&quot;:365,&quot;left&quot;:60,&quot;top&quot;:140,&quot;width&quot;:844.5}"/>
</p:tagLst>
</file>

<file path=ppt/tags/tag12.xml><?xml version="1.0" encoding="utf-8"?>
<p:tagLst xmlns:p="http://schemas.openxmlformats.org/presentationml/2006/main">
  <p:tag name="KSO_WM_DIAGRAM_VIRTUALLY_FRAME" val="{&quot;height&quot;:365,&quot;left&quot;:60,&quot;top&quot;:140,&quot;width&quot;:844.5}"/>
</p:tagLst>
</file>

<file path=ppt/tags/tag13.xml><?xml version="1.0" encoding="utf-8"?>
<p:tagLst xmlns:p="http://schemas.openxmlformats.org/presentationml/2006/main">
  <p:tag name="KSO_WM_DIAGRAM_VIRTUALLY_FRAME" val="{&quot;height&quot;:365,&quot;left&quot;:60,&quot;top&quot;:140,&quot;width&quot;:844.5}"/>
</p:tagLst>
</file>

<file path=ppt/tags/tag14.xml><?xml version="1.0" encoding="utf-8"?>
<p:tagLst xmlns:p="http://schemas.openxmlformats.org/presentationml/2006/main">
  <p:tag name="KSO_WM_DIAGRAM_VIRTUALLY_FRAME" val="{&quot;height&quot;:365,&quot;left&quot;:60,&quot;top&quot;:140,&quot;width&quot;:844.5}"/>
</p:tagLst>
</file>

<file path=ppt/tags/tag15.xml><?xml version="1.0" encoding="utf-8"?>
<p:tagLst xmlns:p="http://schemas.openxmlformats.org/presentationml/2006/main">
  <p:tag name="KSO_WM_DIAGRAM_VIRTUALLY_FRAME" val="{&quot;height&quot;:365,&quot;left&quot;:60,&quot;top&quot;:140,&quot;width&quot;:844.5}"/>
</p:tagLst>
</file>

<file path=ppt/tags/tag16.xml><?xml version="1.0" encoding="utf-8"?>
<p:tagLst xmlns:p="http://schemas.openxmlformats.org/presentationml/2006/main">
  <p:tag name="KSO_WM_DIAGRAM_VIRTUALLY_FRAME" val="{&quot;height&quot;:365,&quot;left&quot;:60,&quot;top&quot;:140,&quot;width&quot;:844.5}"/>
</p:tagLst>
</file>

<file path=ppt/tags/tag17.xml><?xml version="1.0" encoding="utf-8"?>
<p:tagLst xmlns:p="http://schemas.openxmlformats.org/presentationml/2006/main">
  <p:tag name="KSO_WM_DIAGRAM_VIRTUALLY_FRAME" val="{&quot;height&quot;:280,&quot;left&quot;:60,&quot;top&quot;:150,&quot;width&quot;:840}"/>
</p:tagLst>
</file>

<file path=ppt/tags/tag18.xml><?xml version="1.0" encoding="utf-8"?>
<p:tagLst xmlns:p="http://schemas.openxmlformats.org/presentationml/2006/main">
  <p:tag name="KSO_WM_DIAGRAM_VIRTUALLY_FRAME" val="{&quot;height&quot;:280,&quot;left&quot;:60,&quot;top&quot;:150,&quot;width&quot;:840}"/>
</p:tagLst>
</file>

<file path=ppt/tags/tag19.xml><?xml version="1.0" encoding="utf-8"?>
<p:tagLst xmlns:p="http://schemas.openxmlformats.org/presentationml/2006/main">
  <p:tag name="KSO_WM_DIAGRAM_VIRTUALLY_FRAME" val="{&quot;height&quot;:280,&quot;left&quot;:60,&quot;top&quot;:150,&quot;width&quot;:840}"/>
</p:tagLst>
</file>

<file path=ppt/tags/tag20.xml><?xml version="1.0" encoding="utf-8"?>
<p:tagLst xmlns:p="http://schemas.openxmlformats.org/presentationml/2006/main">
  <p:tag name="KSO_WM_DIAGRAM_VIRTUALLY_FRAME" val="{&quot;height&quot;:280,&quot;left&quot;:60,&quot;top&quot;:150,&quot;width&quot;:840}"/>
</p:tagLst>
</file>

<file path=ppt/tags/tag21.xml><?xml version="1.0" encoding="utf-8"?>
<p:tagLst xmlns:p="http://schemas.openxmlformats.org/presentationml/2006/main">
  <p:tag name="KSO_WM_DIAGRAM_VIRTUALLY_FRAME" val="{&quot;height&quot;:280,&quot;left&quot;:60,&quot;top&quot;:150,&quot;width&quot;:840}"/>
</p:tagLst>
</file>

<file path=ppt/tags/tag22.xml><?xml version="1.0" encoding="utf-8"?>
<p:tagLst xmlns:p="http://schemas.openxmlformats.org/presentationml/2006/main">
  <p:tag name="KSO_WM_DIAGRAM_VIRTUALLY_FRAME" val="{&quot;height&quot;:280,&quot;left&quot;:60,&quot;top&quot;:150,&quot;width&quot;:840}"/>
</p:tagLst>
</file>

<file path=ppt/tags/tag23.xml><?xml version="1.0" encoding="utf-8"?>
<p:tagLst xmlns:p="http://schemas.openxmlformats.org/presentationml/2006/main">
  <p:tag name="KSO_WM_DIAGRAM_VIRTUALLY_FRAME" val="{&quot;height&quot;:280,&quot;left&quot;:60,&quot;top&quot;:150,&quot;width&quot;:840}"/>
</p:tagLst>
</file>

<file path=ppt/tags/tag24.xml><?xml version="1.0" encoding="utf-8"?>
<p:tagLst xmlns:p="http://schemas.openxmlformats.org/presentationml/2006/main">
  <p:tag name="KSO_WM_DIAGRAM_VIRTUALLY_FRAME" val="{&quot;height&quot;:280,&quot;left&quot;:60,&quot;top&quot;:150,&quot;width&quot;:840}"/>
</p:tagLst>
</file>

<file path=ppt/tags/tag25.xml><?xml version="1.0" encoding="utf-8"?>
<p:tagLst xmlns:p="http://schemas.openxmlformats.org/presentationml/2006/main">
  <p:tag name="KSO_WM_DIAGRAM_VIRTUALLY_FRAME" val="{&quot;height&quot;:280,&quot;left&quot;:60,&quot;top&quot;:150,&quot;width&quot;:840}"/>
</p:tagLst>
</file>

<file path=ppt/tags/tag26.xml><?xml version="1.0" encoding="utf-8"?>
<p:tagLst xmlns:p="http://schemas.openxmlformats.org/presentationml/2006/main">
  <p:tag name="KSO_WM_DIAGRAM_VIRTUALLY_FRAME" val="{&quot;height&quot;:280,&quot;left&quot;:60,&quot;top&quot;:150,&quot;width&quot;:840}"/>
</p:tagLst>
</file>

<file path=ppt/tags/tag27.xml><?xml version="1.0" encoding="utf-8"?>
<p:tagLst xmlns:p="http://schemas.openxmlformats.org/presentationml/2006/main">
  <p:tag name="KSO_WM_DIAGRAM_VIRTUALLY_FRAME" val="{&quot;height&quot;:280,&quot;left&quot;:60,&quot;top&quot;:150,&quot;width&quot;:840}"/>
</p:tagLst>
</file>

<file path=ppt/tags/tag28.xml><?xml version="1.0" encoding="utf-8"?>
<p:tagLst xmlns:p="http://schemas.openxmlformats.org/presentationml/2006/main">
  <p:tag name="KSO_WM_DIAGRAM_VIRTUALLY_FRAME" val="{&quot;height&quot;:280,&quot;left&quot;:60,&quot;top&quot;:150,&quot;width&quot;:840}"/>
</p:tagLst>
</file>

<file path=ppt/tags/tag29.xml><?xml version="1.0" encoding="utf-8"?>
<p:tagLst xmlns:p="http://schemas.openxmlformats.org/presentationml/2006/main">
  <p:tag name="KSO_WM_DIAGRAM_VIRTUALLY_FRAME" val="{&quot;height&quot;:280,&quot;left&quot;:60,&quot;top&quot;:150,&quot;width&quot;:840}"/>
</p:tagLst>
</file>

<file path=ppt/tags/tag30.xml><?xml version="1.0" encoding="utf-8"?>
<p:tagLst xmlns:p="http://schemas.openxmlformats.org/presentationml/2006/main">
  <p:tag name="KSO_WM_DIAGRAM_VIRTUALLY_FRAME" val="{&quot;height&quot;:280,&quot;left&quot;:60,&quot;top&quot;:150,&quot;width&quot;:840}"/>
</p:tagLst>
</file>

<file path=ppt/tags/tag31.xml><?xml version="1.0" encoding="utf-8"?>
<p:tagLst xmlns:p="http://schemas.openxmlformats.org/presentationml/2006/main">
  <p:tag name="KSO_WM_DIAGRAM_VIRTUALLY_FRAME" val="{&quot;height&quot;:280,&quot;left&quot;:60,&quot;top&quot;:150,&quot;width&quot;:840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2164</Words>
  <Application>WPS 演示</Application>
  <PresentationFormat/>
  <Paragraphs>111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8</vt:i4>
      </vt:variant>
    </vt:vector>
  </HeadingPairs>
  <TitlesOfParts>
    <vt:vector size="17" baseType="lpstr">
      <vt:lpstr>Arial</vt:lpstr>
      <vt:lpstr>宋体</vt:lpstr>
      <vt:lpstr>Wingdings</vt:lpstr>
      <vt:lpstr>Arial</vt:lpstr>
      <vt:lpstr>Noto Sans SC</vt:lpstr>
      <vt:lpstr>微软雅黑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Frost.</cp:lastModifiedBy>
  <cp:revision>2</cp:revision>
  <dcterms:created xsi:type="dcterms:W3CDTF">2026-06-10T13:53:00Z</dcterms:created>
  <dcterms:modified xsi:type="dcterms:W3CDTF">2026-06-10T14:49:40Z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{"Label":"1","ContentProducer":"001191110102MACQD9K64010000","ProduceID":"7649763485001354481","ReservedCode1":"","ContentPropagator":"","PropagateID":"","ReservedCode2":""}</vt:lpwstr>
  </property>
  <property fmtid="{D5CDD505-2E9C-101B-9397-08002B2CF9AE}" pid="3" name="KSOProductBuildVer">
    <vt:lpwstr>2052-12.1.0.26895</vt:lpwstr>
  </property>
  <property fmtid="{D5CDD505-2E9C-101B-9397-08002B2CF9AE}" pid="4" name="ICV">
    <vt:lpwstr>5E4CD9BB15F64E6581C3A9DF2499F7C6_12</vt:lpwstr>
  </property>
</Properties>
</file>